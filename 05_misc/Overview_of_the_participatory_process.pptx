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482E41"/>
    <a:srgbClr val="054A29"/>
    <a:srgbClr val="FCAB10"/>
    <a:srgbClr val="FFC49B"/>
    <a:srgbClr val="F2F2F2"/>
    <a:srgbClr val="F1B347"/>
    <a:srgbClr val="515FCE"/>
    <a:srgbClr val="72D3F7"/>
    <a:srgbClr val="F690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759" autoAdjust="0"/>
  </p:normalViewPr>
  <p:slideViewPr>
    <p:cSldViewPr snapToGrid="0">
      <p:cViewPr varScale="1">
        <p:scale>
          <a:sx n="117" d="100"/>
          <a:sy n="117" d="100"/>
        </p:scale>
        <p:origin x="234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BF124B-64F9-42F8-ABA3-B9C08ACC788B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865599-108B-4396-9848-7833D0376C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3171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865599-108B-4396-9848-7833D0376C9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1114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F00102-2AE5-8392-F238-F3FB0E3FE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181DB1D-C755-DB01-565B-D1BD007B5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660F18C-F423-7D37-40B8-4719352B9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3FA33-99CC-494F-A9D2-4EE56BD5E763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E33BFB0-855B-C6D6-1416-5F074F914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54B9DC-7951-F7E0-B501-2545EA3F0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B60B7-A90D-4610-B7CA-A849679879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8141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CF3971-F9A6-619A-0EA7-A6766BA12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84187C-509F-3E03-B902-B3409E621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9A5B5F-06A0-7369-2DAF-2E08E92BD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3FA33-99CC-494F-A9D2-4EE56BD5E763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55CC8A-3C6C-7441-7CFE-07CFF54BF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11363A-BC42-2816-F895-5F2A2C41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B60B7-A90D-4610-B7CA-A849679879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5038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B6DA5E-CFDF-CBC0-885F-26CC75CE0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3E036D-9790-B63C-8401-3A22234C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54DAC2-FAA5-551E-E67E-9259D0A80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3FA33-99CC-494F-A9D2-4EE56BD5E763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391D8D-0894-764D-0611-0D6567930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12D950-B9DB-4340-CDD2-436BF72DC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B60B7-A90D-4610-B7CA-A849679879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6515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13EEC0-66F8-2613-8D17-2D15BE3F6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754891-5AD9-6A82-FF1A-054B664B7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9AFFD09-FDBE-594A-EA47-7482D5714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650D8C2-5097-5E59-834D-976F3D179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3FA33-99CC-494F-A9D2-4EE56BD5E763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804759F-10F7-8F1F-E278-2B50E30D2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4066858-B815-03D4-3586-42582473A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B60B7-A90D-4610-B7CA-A849679879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6336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63CB51-E245-2EF4-C5E0-CB865FB84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683C39-AB71-7DCD-D0EA-00F6F090F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2060B62-1676-F24A-4E45-F687BDDE4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AB0E1F8-CF3F-0FCC-2579-AD6ED0AD08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0DBA3DB-9911-B99B-C4EF-CAE52CA4B4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7CAB284-9AA8-D223-730A-48F55AAFE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3FA33-99CC-494F-A9D2-4EE56BD5E763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A3A8931-7BC2-0777-BB43-A1E6B86F6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1A15EB5-377B-75E8-80FF-3FEE1E605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B60B7-A90D-4610-B7CA-A849679879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5741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3CBC0C-103F-F3D8-A80E-A2474B29A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3B4771C-86DF-00B3-0BBB-3EDE8F2DA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3FA33-99CC-494F-A9D2-4EE56BD5E763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5982896-D0CE-B62B-D6AC-B8A039CDA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59C272-3633-8681-703E-8EC7D06DA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B60B7-A90D-4610-B7CA-A849679879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5176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626B72E-A239-2D4F-677E-3D5686127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3FA33-99CC-494F-A9D2-4EE56BD5E763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815E3CE-630C-509C-DF3A-A2DBD2828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07511C8-BF98-17B8-AEA0-0A7C68961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B60B7-A90D-4610-B7CA-A849679879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1332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6FAF99-789B-823B-CAD9-6A8BBA7C7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7C795E-8751-557E-9679-7B1BBF584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763CF03-7B87-80C5-6AA8-AE5F330EE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CD0EEA4-5AD9-259B-F223-8AA38796B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3FA33-99CC-494F-A9D2-4EE56BD5E763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D04DAE-7299-5D9B-4678-D76FA75BA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D6ECC7E-3C70-4F8A-22A0-FB7CFCE90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B60B7-A90D-4610-B7CA-A849679879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6278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04C830-A0A3-ECC1-C8A8-211597DED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FAA5CB7-5FBA-1C57-5C53-5AF0CE5FE6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8CFAE33-D07A-10DD-B069-A266B1B63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E9E9C18-C8B3-3DEA-7C82-B2ACD2BFC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3FA33-99CC-494F-A9D2-4EE56BD5E763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BBF617-4AC7-9B86-8078-C9F570773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AD23EBD-12FC-5727-D2FC-AB444F501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B60B7-A90D-4610-B7CA-A849679879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4377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0C4B2D-A858-2E1B-6A2D-07B87D06C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F1E6B54-1472-C97B-AB44-BF1B2E61A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022111-EF3C-FFB1-8BF4-E4DEE205D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3FA33-99CC-494F-A9D2-4EE56BD5E763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737F8C-D4AF-CECB-AFE1-93E6E3EED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0A313C-BBE2-D12A-CC72-2F03BE264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B60B7-A90D-4610-B7CA-A849679879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7783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1032F63-ECFC-1CF5-E484-C3DDF3AB3C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B5F2C18-A4AE-8E64-9F4F-9A408AC60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4CC542-E470-EE16-CFC9-BC3B0A2AA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3FA33-99CC-494F-A9D2-4EE56BD5E763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A6E140-19DB-FD44-3064-16D48F059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BA4B62-2B52-333A-CF56-4024CBB07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B60B7-A90D-4610-B7CA-A849679879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737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234A3EA-8307-49EA-BAF3-D72F2BBD6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48AE18-A5B7-F126-B735-F22683951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0F6D89-B989-8900-2807-63D8726698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73FA33-99CC-494F-A9D2-4EE56BD5E763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3F0A3A-6CCB-F07E-0CBD-34262C631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D1ADDD-3915-47D4-2EC3-2438061640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9B60B7-A90D-4610-B7CA-A849679879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034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D03EAECF-24E6-B997-0020-A6BB450E58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7118" y="676746"/>
            <a:ext cx="3087232" cy="550450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B8A930D5-3001-070E-FA5E-EA1F979BF0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552384" y="676745"/>
            <a:ext cx="3087232" cy="550450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082496B3-11A0-6628-64AF-AAF5769B24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07650" y="676744"/>
            <a:ext cx="3087232" cy="550450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3347B156-05B0-D0B3-11E3-EE03FE95BF1C}"/>
              </a:ext>
            </a:extLst>
          </p:cNvPr>
          <p:cNvSpPr/>
          <p:nvPr/>
        </p:nvSpPr>
        <p:spPr>
          <a:xfrm>
            <a:off x="973249" y="1980385"/>
            <a:ext cx="2534971" cy="10592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/>
              <a:t>Student Focus Group</a:t>
            </a:r>
          </a:p>
          <a:p>
            <a:pPr algn="ctr"/>
            <a:r>
              <a:rPr lang="en-US" sz="1400" b="1" dirty="0"/>
              <a:t>(n = 12)</a:t>
            </a:r>
            <a:endParaRPr lang="en-US" sz="1400" b="1" noProof="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808341C-8DE1-38CA-5E42-1209BF9882FE}"/>
              </a:ext>
            </a:extLst>
          </p:cNvPr>
          <p:cNvSpPr txBox="1"/>
          <p:nvPr/>
        </p:nvSpPr>
        <p:spPr>
          <a:xfrm>
            <a:off x="1222219" y="832919"/>
            <a:ext cx="20370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Input</a:t>
            </a:r>
            <a:endParaRPr lang="en-US" sz="2400" b="1" noProof="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0E281CA1-C584-8D57-67EB-7185FD52CBEF}"/>
              </a:ext>
            </a:extLst>
          </p:cNvPr>
          <p:cNvSpPr/>
          <p:nvPr/>
        </p:nvSpPr>
        <p:spPr>
          <a:xfrm>
            <a:off x="973249" y="3818360"/>
            <a:ext cx="2534971" cy="10592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/>
              <a:t>Staff Workshop</a:t>
            </a:r>
          </a:p>
          <a:p>
            <a:pPr algn="ctr"/>
            <a:r>
              <a:rPr lang="en-US" sz="1400" b="1" dirty="0"/>
              <a:t>(n = 12)</a:t>
            </a:r>
            <a:endParaRPr lang="en-US" sz="1400" b="1" noProof="0" dirty="0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16714B6B-7375-29BD-8F7E-7AFACAEEC36F}"/>
              </a:ext>
            </a:extLst>
          </p:cNvPr>
          <p:cNvSpPr/>
          <p:nvPr/>
        </p:nvSpPr>
        <p:spPr>
          <a:xfrm>
            <a:off x="4873783" y="1980385"/>
            <a:ext cx="2534971" cy="105925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/>
              <a:t>Evaluation and Discussion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206C1AB2-255E-EBD0-9944-53E80106F131}"/>
              </a:ext>
            </a:extLst>
          </p:cNvPr>
          <p:cNvSpPr/>
          <p:nvPr/>
        </p:nvSpPr>
        <p:spPr>
          <a:xfrm>
            <a:off x="4873782" y="3813653"/>
            <a:ext cx="2534971" cy="105925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/>
              <a:t>Acceptability &amp; Disagreement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D74EC3BF-C8B2-F24B-95B3-BE36AF87DE5F}"/>
              </a:ext>
            </a:extLst>
          </p:cNvPr>
          <p:cNvSpPr/>
          <p:nvPr/>
        </p:nvSpPr>
        <p:spPr>
          <a:xfrm>
            <a:off x="8683779" y="1536571"/>
            <a:ext cx="2534971" cy="10592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/>
              <a:t>Shared Principles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Transparency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noProof="0" dirty="0"/>
              <a:t>Responsibility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Competence Development</a:t>
            </a:r>
            <a:endParaRPr lang="en-US" sz="1200" noProof="0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4DD918A3-195E-CE50-B55E-CD4B7EC6214F}"/>
              </a:ext>
            </a:extLst>
          </p:cNvPr>
          <p:cNvSpPr txBox="1"/>
          <p:nvPr/>
        </p:nvSpPr>
        <p:spPr>
          <a:xfrm>
            <a:off x="8932750" y="832919"/>
            <a:ext cx="20370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Output</a:t>
            </a:r>
            <a:endParaRPr lang="en-US" sz="2400" b="1" noProof="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BE102AEB-C511-8FA1-511A-1C54473B9FFA}"/>
              </a:ext>
            </a:extLst>
          </p:cNvPr>
          <p:cNvSpPr/>
          <p:nvPr/>
        </p:nvSpPr>
        <p:spPr>
          <a:xfrm>
            <a:off x="8683780" y="2899369"/>
            <a:ext cx="2534971" cy="10592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/>
              <a:t>Course-Specific Guidance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Use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noProof="0" dirty="0"/>
              <a:t>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Learning Objective</a:t>
            </a:r>
            <a:endParaRPr lang="en-US" sz="1200" noProof="0" dirty="0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F6E6D26C-8B7E-354A-EF6E-2CD21AE96BA8}"/>
              </a:ext>
            </a:extLst>
          </p:cNvPr>
          <p:cNvSpPr/>
          <p:nvPr/>
        </p:nvSpPr>
        <p:spPr>
          <a:xfrm>
            <a:off x="8683779" y="4262167"/>
            <a:ext cx="2534971" cy="10592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/>
              <a:t>AI Disclosure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Areas of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Work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noProof="0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525B3798-6F38-0020-5FB0-59F42448FE91}"/>
              </a:ext>
            </a:extLst>
          </p:cNvPr>
          <p:cNvSpPr txBox="1"/>
          <p:nvPr/>
        </p:nvSpPr>
        <p:spPr>
          <a:xfrm>
            <a:off x="5077485" y="832919"/>
            <a:ext cx="20370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Input</a:t>
            </a:r>
            <a:endParaRPr lang="en-US" sz="2400" b="1" noProof="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934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7D335E08-DF9C-61F9-3BCA-0AF9F4DBC0FF}"/>
              </a:ext>
            </a:extLst>
          </p:cNvPr>
          <p:cNvSpPr/>
          <p:nvPr/>
        </p:nvSpPr>
        <p:spPr>
          <a:xfrm>
            <a:off x="8932750" y="676746"/>
            <a:ext cx="2819966" cy="54287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5A6854E2-B807-4AB7-773A-DBB75D2E98B0}"/>
              </a:ext>
            </a:extLst>
          </p:cNvPr>
          <p:cNvSpPr/>
          <p:nvPr/>
        </p:nvSpPr>
        <p:spPr>
          <a:xfrm>
            <a:off x="9075247" y="1936621"/>
            <a:ext cx="2534971" cy="10592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Principles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Competence Development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14C1AB2-ECD0-073C-05C2-37FA93215F75}"/>
              </a:ext>
            </a:extLst>
          </p:cNvPr>
          <p:cNvSpPr txBox="1"/>
          <p:nvPr/>
        </p:nvSpPr>
        <p:spPr>
          <a:xfrm>
            <a:off x="8932748" y="906604"/>
            <a:ext cx="28199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AI Guidance</a:t>
            </a:r>
            <a:endParaRPr lang="en-US" sz="2400" b="1" noProof="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AEC6865F-DE90-4488-5797-A668435AF1F2}"/>
              </a:ext>
            </a:extLst>
          </p:cNvPr>
          <p:cNvSpPr/>
          <p:nvPr/>
        </p:nvSpPr>
        <p:spPr>
          <a:xfrm>
            <a:off x="9075246" y="3299419"/>
            <a:ext cx="2534971" cy="10592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Course-Specific Guidance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F55A5067-0800-808D-54D9-9AD490EF149C}"/>
              </a:ext>
            </a:extLst>
          </p:cNvPr>
          <p:cNvSpPr/>
          <p:nvPr/>
        </p:nvSpPr>
        <p:spPr>
          <a:xfrm>
            <a:off x="9075245" y="4662217"/>
            <a:ext cx="2534971" cy="10592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Disclosure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Areas of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624A6C54-104A-7913-876D-418EA6704EA2}"/>
              </a:ext>
            </a:extLst>
          </p:cNvPr>
          <p:cNvSpPr/>
          <p:nvPr/>
        </p:nvSpPr>
        <p:spPr>
          <a:xfrm>
            <a:off x="436075" y="676746"/>
            <a:ext cx="2819966" cy="54287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4AEBA694-2219-BEF1-5342-71D1456787D5}"/>
              </a:ext>
            </a:extLst>
          </p:cNvPr>
          <p:cNvSpPr/>
          <p:nvPr/>
        </p:nvSpPr>
        <p:spPr>
          <a:xfrm>
            <a:off x="4686017" y="671713"/>
            <a:ext cx="2819966" cy="54287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Pfeil: nach rechts 20">
            <a:extLst>
              <a:ext uri="{FF2B5EF4-FFF2-40B4-BE49-F238E27FC236}">
                <a16:creationId xmlns:a16="http://schemas.microsoft.com/office/drawing/2014/main" id="{1939D7E0-C8A5-75E1-1824-5DF74AA4B638}"/>
              </a:ext>
            </a:extLst>
          </p:cNvPr>
          <p:cNvSpPr/>
          <p:nvPr/>
        </p:nvSpPr>
        <p:spPr>
          <a:xfrm>
            <a:off x="3539245" y="3162297"/>
            <a:ext cx="866775" cy="533400"/>
          </a:xfrm>
          <a:prstGeom prst="rightArrow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Pfeil: nach rechts 22">
            <a:extLst>
              <a:ext uri="{FF2B5EF4-FFF2-40B4-BE49-F238E27FC236}">
                <a16:creationId xmlns:a16="http://schemas.microsoft.com/office/drawing/2014/main" id="{29A2373D-E139-6CFF-43AD-1B03A0335F8B}"/>
              </a:ext>
            </a:extLst>
          </p:cNvPr>
          <p:cNvSpPr/>
          <p:nvPr/>
        </p:nvSpPr>
        <p:spPr>
          <a:xfrm>
            <a:off x="7785978" y="3119403"/>
            <a:ext cx="866775" cy="533400"/>
          </a:xfrm>
          <a:prstGeom prst="rightArrow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47AE3893-8966-EC6F-0D81-271F878C4C1B}"/>
              </a:ext>
            </a:extLst>
          </p:cNvPr>
          <p:cNvSpPr txBox="1"/>
          <p:nvPr/>
        </p:nvSpPr>
        <p:spPr>
          <a:xfrm>
            <a:off x="4682806" y="906604"/>
            <a:ext cx="28199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Staff Workshop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(n = 12)</a:t>
            </a:r>
            <a:endParaRPr lang="en-US" sz="2400" b="1" noProof="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5A23FB4-5A1D-D1B2-4CEB-E7B77E41F173}"/>
              </a:ext>
            </a:extLst>
          </p:cNvPr>
          <p:cNvSpPr txBox="1"/>
          <p:nvPr/>
        </p:nvSpPr>
        <p:spPr>
          <a:xfrm>
            <a:off x="436075" y="906604"/>
            <a:ext cx="28199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Student Focus Groups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(n = 12)</a:t>
            </a:r>
            <a:endParaRPr lang="en-US" sz="2400" b="1" noProof="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4145B966-9403-D4B8-FD54-94D72E0436AD}"/>
              </a:ext>
            </a:extLst>
          </p:cNvPr>
          <p:cNvSpPr/>
          <p:nvPr/>
        </p:nvSpPr>
        <p:spPr>
          <a:xfrm>
            <a:off x="579374" y="1936621"/>
            <a:ext cx="2534971" cy="1059256"/>
          </a:xfrm>
          <a:prstGeom prst="roundRect">
            <a:avLst/>
          </a:prstGeom>
          <a:solidFill>
            <a:srgbClr val="F1B3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Use Cases</a:t>
            </a: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211A8797-7C2D-D38B-521D-A4074144F17C}"/>
              </a:ext>
            </a:extLst>
          </p:cNvPr>
          <p:cNvSpPr/>
          <p:nvPr/>
        </p:nvSpPr>
        <p:spPr>
          <a:xfrm>
            <a:off x="580980" y="3358858"/>
            <a:ext cx="2534971" cy="1059256"/>
          </a:xfrm>
          <a:prstGeom prst="roundRect">
            <a:avLst/>
          </a:prstGeom>
          <a:solidFill>
            <a:srgbClr val="F1B3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Areas of Uncertainty</a:t>
            </a: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823928B8-1352-D362-2B53-5033033B7815}"/>
              </a:ext>
            </a:extLst>
          </p:cNvPr>
          <p:cNvSpPr/>
          <p:nvPr/>
        </p:nvSpPr>
        <p:spPr>
          <a:xfrm>
            <a:off x="578572" y="4740245"/>
            <a:ext cx="2534971" cy="1059256"/>
          </a:xfrm>
          <a:prstGeom prst="roundRect">
            <a:avLst/>
          </a:prstGeom>
          <a:solidFill>
            <a:srgbClr val="F1B3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Clear Guidance</a:t>
            </a: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D9880998-D48E-1465-4275-1C4800B48D8D}"/>
              </a:ext>
            </a:extLst>
          </p:cNvPr>
          <p:cNvSpPr/>
          <p:nvPr/>
        </p:nvSpPr>
        <p:spPr>
          <a:xfrm>
            <a:off x="4825376" y="1936621"/>
            <a:ext cx="2534971" cy="1059256"/>
          </a:xfrm>
          <a:prstGeom prst="roundRect">
            <a:avLst/>
          </a:prstGeom>
          <a:solidFill>
            <a:srgbClr val="482E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Context-Sensitive Evaluation</a:t>
            </a:r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91FCEED3-7B24-2FD7-CDE3-AB4CD4E8ACE5}"/>
              </a:ext>
            </a:extLst>
          </p:cNvPr>
          <p:cNvSpPr/>
          <p:nvPr/>
        </p:nvSpPr>
        <p:spPr>
          <a:xfrm>
            <a:off x="4826982" y="3358858"/>
            <a:ext cx="2534971" cy="1059256"/>
          </a:xfrm>
          <a:prstGeom prst="roundRect">
            <a:avLst/>
          </a:prstGeom>
          <a:solidFill>
            <a:srgbClr val="482E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Competence Development</a:t>
            </a:r>
          </a:p>
        </p:txBody>
      </p:sp>
      <p:sp>
        <p:nvSpPr>
          <p:cNvPr id="39" name="Rechteck: abgerundete Ecken 38">
            <a:extLst>
              <a:ext uri="{FF2B5EF4-FFF2-40B4-BE49-F238E27FC236}">
                <a16:creationId xmlns:a16="http://schemas.microsoft.com/office/drawing/2014/main" id="{C1B55540-3C81-3750-6EF5-0026A8A0934E}"/>
              </a:ext>
            </a:extLst>
          </p:cNvPr>
          <p:cNvSpPr/>
          <p:nvPr/>
        </p:nvSpPr>
        <p:spPr>
          <a:xfrm>
            <a:off x="4824574" y="4740245"/>
            <a:ext cx="2534971" cy="1059256"/>
          </a:xfrm>
          <a:prstGeom prst="roundRect">
            <a:avLst/>
          </a:prstGeom>
          <a:solidFill>
            <a:srgbClr val="482E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Requirements</a:t>
            </a:r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CAAC7A5E-6F81-D137-A8A6-2E4B7B91D1D4}"/>
              </a:ext>
            </a:extLst>
          </p:cNvPr>
          <p:cNvSpPr/>
          <p:nvPr/>
        </p:nvSpPr>
        <p:spPr>
          <a:xfrm>
            <a:off x="576528" y="1936621"/>
            <a:ext cx="2534971" cy="1059256"/>
          </a:xfrm>
          <a:prstGeom prst="roundRect">
            <a:avLst/>
          </a:prstGeom>
          <a:solidFill>
            <a:srgbClr val="F1B3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Use Cases</a:t>
            </a:r>
          </a:p>
        </p:txBody>
      </p: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FC0A95D4-BEF4-5F14-6131-D34378E66EAF}"/>
              </a:ext>
            </a:extLst>
          </p:cNvPr>
          <p:cNvSpPr/>
          <p:nvPr/>
        </p:nvSpPr>
        <p:spPr>
          <a:xfrm>
            <a:off x="578134" y="3358858"/>
            <a:ext cx="2534971" cy="1059256"/>
          </a:xfrm>
          <a:prstGeom prst="roundRect">
            <a:avLst/>
          </a:prstGeom>
          <a:solidFill>
            <a:srgbClr val="F1B3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Areas of Uncertainty</a:t>
            </a:r>
          </a:p>
        </p:txBody>
      </p:sp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F0CBA982-CA2D-94E9-A94C-E1D41D516B2F}"/>
              </a:ext>
            </a:extLst>
          </p:cNvPr>
          <p:cNvSpPr/>
          <p:nvPr/>
        </p:nvSpPr>
        <p:spPr>
          <a:xfrm>
            <a:off x="4822530" y="1936621"/>
            <a:ext cx="2534971" cy="1059256"/>
          </a:xfrm>
          <a:prstGeom prst="roundRect">
            <a:avLst/>
          </a:prstGeom>
          <a:solidFill>
            <a:srgbClr val="482E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Context-Sensitive Evaluation</a:t>
            </a:r>
          </a:p>
        </p:txBody>
      </p:sp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76BA3D1F-DC46-40DE-807B-81F765791E43}"/>
              </a:ext>
            </a:extLst>
          </p:cNvPr>
          <p:cNvSpPr/>
          <p:nvPr/>
        </p:nvSpPr>
        <p:spPr>
          <a:xfrm>
            <a:off x="4824136" y="3358858"/>
            <a:ext cx="2534971" cy="1059256"/>
          </a:xfrm>
          <a:prstGeom prst="roundRect">
            <a:avLst/>
          </a:prstGeom>
          <a:solidFill>
            <a:srgbClr val="482E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Competence Development</a:t>
            </a:r>
          </a:p>
        </p:txBody>
      </p: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A440658C-06CD-2F36-7338-53D41D6A57B0}"/>
              </a:ext>
            </a:extLst>
          </p:cNvPr>
          <p:cNvSpPr/>
          <p:nvPr/>
        </p:nvSpPr>
        <p:spPr>
          <a:xfrm>
            <a:off x="4821728" y="4740245"/>
            <a:ext cx="2534971" cy="1059256"/>
          </a:xfrm>
          <a:prstGeom prst="roundRect">
            <a:avLst/>
          </a:prstGeom>
          <a:solidFill>
            <a:srgbClr val="482E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Requirements</a:t>
            </a:r>
          </a:p>
        </p:txBody>
      </p:sp>
    </p:spTree>
    <p:extLst>
      <p:ext uri="{BB962C8B-B14F-4D97-AF65-F5344CB8AC3E}">
        <p14:creationId xmlns:p14="http://schemas.microsoft.com/office/powerpoint/2010/main" val="2583070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BC83DF2-6F1A-645E-AE69-947408C6A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43C12E96-5932-FC44-07AE-BF22560CCDBC}"/>
              </a:ext>
            </a:extLst>
          </p:cNvPr>
          <p:cNvSpPr/>
          <p:nvPr/>
        </p:nvSpPr>
        <p:spPr>
          <a:xfrm>
            <a:off x="8932750" y="676746"/>
            <a:ext cx="2819966" cy="54287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95755C77-4B98-5D38-EA76-F825BDA8CDC4}"/>
              </a:ext>
            </a:extLst>
          </p:cNvPr>
          <p:cNvSpPr/>
          <p:nvPr/>
        </p:nvSpPr>
        <p:spPr>
          <a:xfrm>
            <a:off x="9075247" y="1936621"/>
            <a:ext cx="2534971" cy="1059256"/>
          </a:xfrm>
          <a:prstGeom prst="roundRect">
            <a:avLst/>
          </a:prstGeom>
          <a:solidFill>
            <a:srgbClr val="515F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Principles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Competence Development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52F085D-6593-7FD3-08E6-103D9E716B5C}"/>
              </a:ext>
            </a:extLst>
          </p:cNvPr>
          <p:cNvSpPr txBox="1"/>
          <p:nvPr/>
        </p:nvSpPr>
        <p:spPr>
          <a:xfrm>
            <a:off x="8932748" y="906604"/>
            <a:ext cx="28199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AI Guidance</a:t>
            </a:r>
            <a:endParaRPr lang="en-US" sz="2400" b="1" noProof="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45E771E1-273E-7A64-96E1-75A1BBAC64B5}"/>
              </a:ext>
            </a:extLst>
          </p:cNvPr>
          <p:cNvSpPr/>
          <p:nvPr/>
        </p:nvSpPr>
        <p:spPr>
          <a:xfrm>
            <a:off x="9075246" y="3299419"/>
            <a:ext cx="2534971" cy="1059256"/>
          </a:xfrm>
          <a:prstGeom prst="roundRect">
            <a:avLst/>
          </a:prstGeom>
          <a:solidFill>
            <a:srgbClr val="515F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Course-Specific Guidance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0FC49D0F-F015-D1B7-4CE7-9A24C0D78FD4}"/>
              </a:ext>
            </a:extLst>
          </p:cNvPr>
          <p:cNvSpPr/>
          <p:nvPr/>
        </p:nvSpPr>
        <p:spPr>
          <a:xfrm>
            <a:off x="9075245" y="4662217"/>
            <a:ext cx="2534971" cy="1059256"/>
          </a:xfrm>
          <a:prstGeom prst="roundRect">
            <a:avLst/>
          </a:prstGeom>
          <a:solidFill>
            <a:srgbClr val="515F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Disclosure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Areas of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DE8A4E06-E425-DF94-158B-417A5C1106FA}"/>
              </a:ext>
            </a:extLst>
          </p:cNvPr>
          <p:cNvSpPr/>
          <p:nvPr/>
        </p:nvSpPr>
        <p:spPr>
          <a:xfrm>
            <a:off x="436075" y="676746"/>
            <a:ext cx="2819966" cy="54287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79165B36-6A45-1E41-4154-FE6E617C6037}"/>
              </a:ext>
            </a:extLst>
          </p:cNvPr>
          <p:cNvSpPr/>
          <p:nvPr/>
        </p:nvSpPr>
        <p:spPr>
          <a:xfrm>
            <a:off x="4686017" y="671713"/>
            <a:ext cx="2819966" cy="54287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Pfeil: nach rechts 20">
            <a:extLst>
              <a:ext uri="{FF2B5EF4-FFF2-40B4-BE49-F238E27FC236}">
                <a16:creationId xmlns:a16="http://schemas.microsoft.com/office/drawing/2014/main" id="{D457140A-5A96-8CED-5353-E7BE7C0EB248}"/>
              </a:ext>
            </a:extLst>
          </p:cNvPr>
          <p:cNvSpPr/>
          <p:nvPr/>
        </p:nvSpPr>
        <p:spPr>
          <a:xfrm>
            <a:off x="3539245" y="3162297"/>
            <a:ext cx="866775" cy="533400"/>
          </a:xfrm>
          <a:prstGeom prst="rightArrow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Pfeil: nach rechts 22">
            <a:extLst>
              <a:ext uri="{FF2B5EF4-FFF2-40B4-BE49-F238E27FC236}">
                <a16:creationId xmlns:a16="http://schemas.microsoft.com/office/drawing/2014/main" id="{C0E923A4-1B40-75ED-5EB7-98F91C65DA9C}"/>
              </a:ext>
            </a:extLst>
          </p:cNvPr>
          <p:cNvSpPr/>
          <p:nvPr/>
        </p:nvSpPr>
        <p:spPr>
          <a:xfrm>
            <a:off x="7785978" y="3119403"/>
            <a:ext cx="866775" cy="533400"/>
          </a:xfrm>
          <a:prstGeom prst="rightArrow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ACD3DDED-3C75-5FC1-57B8-26DD232E1B7F}"/>
              </a:ext>
            </a:extLst>
          </p:cNvPr>
          <p:cNvSpPr txBox="1"/>
          <p:nvPr/>
        </p:nvSpPr>
        <p:spPr>
          <a:xfrm>
            <a:off x="4682806" y="906604"/>
            <a:ext cx="28199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Staff Workshop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(n = 12)</a:t>
            </a:r>
            <a:endParaRPr lang="en-US" sz="2400" b="1" noProof="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FADBA472-28F2-419E-5883-EA5EB71E4E92}"/>
              </a:ext>
            </a:extLst>
          </p:cNvPr>
          <p:cNvSpPr txBox="1"/>
          <p:nvPr/>
        </p:nvSpPr>
        <p:spPr>
          <a:xfrm>
            <a:off x="436075" y="906604"/>
            <a:ext cx="28199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Student Focus Groups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(n = 12)</a:t>
            </a:r>
            <a:endParaRPr lang="en-US" sz="2400" b="1" noProof="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8BD09318-CBCB-C794-C3BC-44C0E175D550}"/>
              </a:ext>
            </a:extLst>
          </p:cNvPr>
          <p:cNvSpPr/>
          <p:nvPr/>
        </p:nvSpPr>
        <p:spPr>
          <a:xfrm>
            <a:off x="579374" y="1936621"/>
            <a:ext cx="2534971" cy="1059256"/>
          </a:xfrm>
          <a:prstGeom prst="roundRect">
            <a:avLst/>
          </a:prstGeom>
          <a:solidFill>
            <a:srgbClr val="F1B3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Use Cases</a:t>
            </a: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3F138642-8511-C84D-DED5-7945AE5C300E}"/>
              </a:ext>
            </a:extLst>
          </p:cNvPr>
          <p:cNvSpPr/>
          <p:nvPr/>
        </p:nvSpPr>
        <p:spPr>
          <a:xfrm>
            <a:off x="580980" y="3358858"/>
            <a:ext cx="2534971" cy="1059256"/>
          </a:xfrm>
          <a:prstGeom prst="roundRect">
            <a:avLst/>
          </a:prstGeom>
          <a:solidFill>
            <a:srgbClr val="F1B3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Areas of Uncertainty</a:t>
            </a: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315AD25A-5BFD-AB38-970C-AAEB7F6618C6}"/>
              </a:ext>
            </a:extLst>
          </p:cNvPr>
          <p:cNvSpPr/>
          <p:nvPr/>
        </p:nvSpPr>
        <p:spPr>
          <a:xfrm>
            <a:off x="578572" y="4740245"/>
            <a:ext cx="2534971" cy="1059256"/>
          </a:xfrm>
          <a:prstGeom prst="roundRect">
            <a:avLst/>
          </a:prstGeom>
          <a:solidFill>
            <a:srgbClr val="F6902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Clear Guidance</a:t>
            </a: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3850D33B-9BCB-469C-21F7-0C8EE22825C3}"/>
              </a:ext>
            </a:extLst>
          </p:cNvPr>
          <p:cNvSpPr/>
          <p:nvPr/>
        </p:nvSpPr>
        <p:spPr>
          <a:xfrm>
            <a:off x="4825376" y="1936621"/>
            <a:ext cx="2534971" cy="1059256"/>
          </a:xfrm>
          <a:prstGeom prst="roundRect">
            <a:avLst/>
          </a:prstGeom>
          <a:solidFill>
            <a:srgbClr val="482E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Context-Sensitive Evaluation</a:t>
            </a:r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CE4AC362-A410-72B1-93D6-0690E2D875BB}"/>
              </a:ext>
            </a:extLst>
          </p:cNvPr>
          <p:cNvSpPr/>
          <p:nvPr/>
        </p:nvSpPr>
        <p:spPr>
          <a:xfrm>
            <a:off x="4826982" y="3358858"/>
            <a:ext cx="2534971" cy="1059256"/>
          </a:xfrm>
          <a:prstGeom prst="roundRect">
            <a:avLst/>
          </a:prstGeom>
          <a:solidFill>
            <a:srgbClr val="482E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Competence Development</a:t>
            </a:r>
          </a:p>
        </p:txBody>
      </p:sp>
      <p:sp>
        <p:nvSpPr>
          <p:cNvPr id="39" name="Rechteck: abgerundete Ecken 38">
            <a:extLst>
              <a:ext uri="{FF2B5EF4-FFF2-40B4-BE49-F238E27FC236}">
                <a16:creationId xmlns:a16="http://schemas.microsoft.com/office/drawing/2014/main" id="{170AA818-FBFC-ADB4-5752-81A71BB64181}"/>
              </a:ext>
            </a:extLst>
          </p:cNvPr>
          <p:cNvSpPr/>
          <p:nvPr/>
        </p:nvSpPr>
        <p:spPr>
          <a:xfrm>
            <a:off x="4824574" y="4740245"/>
            <a:ext cx="2534971" cy="1059256"/>
          </a:xfrm>
          <a:prstGeom prst="roundRect">
            <a:avLst/>
          </a:prstGeom>
          <a:solidFill>
            <a:srgbClr val="482E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Requirements</a:t>
            </a:r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DE3FF4A4-900E-9677-3514-490DEF13289E}"/>
              </a:ext>
            </a:extLst>
          </p:cNvPr>
          <p:cNvSpPr/>
          <p:nvPr/>
        </p:nvSpPr>
        <p:spPr>
          <a:xfrm>
            <a:off x="576528" y="1936621"/>
            <a:ext cx="2534971" cy="1059256"/>
          </a:xfrm>
          <a:prstGeom prst="roundRect">
            <a:avLst/>
          </a:prstGeom>
          <a:solidFill>
            <a:srgbClr val="F6902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Use Cases</a:t>
            </a:r>
          </a:p>
        </p:txBody>
      </p: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C66CF2AB-7CA8-62A7-09A2-584A7FA527C2}"/>
              </a:ext>
            </a:extLst>
          </p:cNvPr>
          <p:cNvSpPr/>
          <p:nvPr/>
        </p:nvSpPr>
        <p:spPr>
          <a:xfrm>
            <a:off x="578134" y="3358858"/>
            <a:ext cx="2534971" cy="1059256"/>
          </a:xfrm>
          <a:prstGeom prst="roundRect">
            <a:avLst/>
          </a:prstGeom>
          <a:solidFill>
            <a:srgbClr val="F6902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Areas of Uncertainty</a:t>
            </a:r>
          </a:p>
        </p:txBody>
      </p:sp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DBC11BCF-66E1-45B2-B563-B80774FBEDFB}"/>
              </a:ext>
            </a:extLst>
          </p:cNvPr>
          <p:cNvSpPr/>
          <p:nvPr/>
        </p:nvSpPr>
        <p:spPr>
          <a:xfrm>
            <a:off x="4822530" y="1936621"/>
            <a:ext cx="2534971" cy="1059256"/>
          </a:xfrm>
          <a:prstGeom prst="roundRect">
            <a:avLst/>
          </a:prstGeom>
          <a:solidFill>
            <a:srgbClr val="72D3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Context-Sensitive Evaluation</a:t>
            </a:r>
          </a:p>
        </p:txBody>
      </p:sp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91A0F2CE-0DC3-420F-6423-5F93552142A6}"/>
              </a:ext>
            </a:extLst>
          </p:cNvPr>
          <p:cNvSpPr/>
          <p:nvPr/>
        </p:nvSpPr>
        <p:spPr>
          <a:xfrm>
            <a:off x="4824136" y="3358858"/>
            <a:ext cx="2534971" cy="1059256"/>
          </a:xfrm>
          <a:prstGeom prst="roundRect">
            <a:avLst/>
          </a:prstGeom>
          <a:solidFill>
            <a:srgbClr val="72D3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Competence Development</a:t>
            </a:r>
          </a:p>
        </p:txBody>
      </p: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046A4893-0E8F-9CCA-5085-7A07E09DBD0A}"/>
              </a:ext>
            </a:extLst>
          </p:cNvPr>
          <p:cNvSpPr/>
          <p:nvPr/>
        </p:nvSpPr>
        <p:spPr>
          <a:xfrm>
            <a:off x="4821728" y="4740245"/>
            <a:ext cx="2534971" cy="1059256"/>
          </a:xfrm>
          <a:prstGeom prst="roundRect">
            <a:avLst/>
          </a:prstGeom>
          <a:solidFill>
            <a:srgbClr val="72D3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Requirements</a:t>
            </a:r>
          </a:p>
        </p:txBody>
      </p:sp>
    </p:spTree>
    <p:extLst>
      <p:ext uri="{BB962C8B-B14F-4D97-AF65-F5344CB8AC3E}">
        <p14:creationId xmlns:p14="http://schemas.microsoft.com/office/powerpoint/2010/main" val="543154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hteck: abgerundete Ecken 86">
            <a:extLst>
              <a:ext uri="{FF2B5EF4-FFF2-40B4-BE49-F238E27FC236}">
                <a16:creationId xmlns:a16="http://schemas.microsoft.com/office/drawing/2014/main" id="{B47D6913-99F6-D930-7BEA-4A0A6DD3092A}"/>
              </a:ext>
            </a:extLst>
          </p:cNvPr>
          <p:cNvSpPr>
            <a:spLocks/>
          </p:cNvSpPr>
          <p:nvPr/>
        </p:nvSpPr>
        <p:spPr>
          <a:xfrm>
            <a:off x="9552885" y="192433"/>
            <a:ext cx="2520000" cy="6480000"/>
          </a:xfrm>
          <a:prstGeom prst="roundRect">
            <a:avLst>
              <a:gd name="adj" fmla="val 9236"/>
            </a:avLst>
          </a:prstGeom>
          <a:solidFill>
            <a:schemeClr val="bg1">
              <a:lumMod val="95000"/>
            </a:schemeClr>
          </a:solidFill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852B1CFD-B36E-4E71-1295-FD126A29611A}"/>
              </a:ext>
            </a:extLst>
          </p:cNvPr>
          <p:cNvSpPr>
            <a:spLocks/>
          </p:cNvSpPr>
          <p:nvPr/>
        </p:nvSpPr>
        <p:spPr>
          <a:xfrm>
            <a:off x="73946" y="190123"/>
            <a:ext cx="2520000" cy="6480000"/>
          </a:xfrm>
          <a:prstGeom prst="roundRect">
            <a:avLst>
              <a:gd name="adj" fmla="val 9236"/>
            </a:avLst>
          </a:prstGeom>
          <a:solidFill>
            <a:schemeClr val="bg1">
              <a:lumMod val="95000"/>
            </a:schemeClr>
          </a:solidFill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41532FF8-351D-3AC0-ACFD-B37300B0C754}"/>
              </a:ext>
            </a:extLst>
          </p:cNvPr>
          <p:cNvSpPr>
            <a:spLocks/>
          </p:cNvSpPr>
          <p:nvPr/>
        </p:nvSpPr>
        <p:spPr>
          <a:xfrm>
            <a:off x="2740102" y="190123"/>
            <a:ext cx="6660000" cy="6480000"/>
          </a:xfrm>
          <a:prstGeom prst="roundRect">
            <a:avLst>
              <a:gd name="adj" fmla="val 4387"/>
            </a:avLst>
          </a:prstGeom>
          <a:solidFill>
            <a:schemeClr val="bg1">
              <a:lumMod val="95000"/>
            </a:schemeClr>
          </a:solidFill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6BF52CD-68FB-DDE7-8C96-C75AB1D53296}"/>
              </a:ext>
            </a:extLst>
          </p:cNvPr>
          <p:cNvSpPr txBox="1"/>
          <p:nvPr/>
        </p:nvSpPr>
        <p:spPr>
          <a:xfrm>
            <a:off x="74636" y="199192"/>
            <a:ext cx="25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Context and Research Process</a:t>
            </a:r>
            <a:endParaRPr lang="en-US" sz="2400" b="1" noProof="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295E29F-C217-74EF-63E7-E9ABBB77A0E7}"/>
              </a:ext>
            </a:extLst>
          </p:cNvPr>
          <p:cNvSpPr txBox="1"/>
          <p:nvPr/>
        </p:nvSpPr>
        <p:spPr>
          <a:xfrm>
            <a:off x="9552883" y="185155"/>
            <a:ext cx="252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AI Guidance</a:t>
            </a:r>
            <a:endParaRPr lang="en-US" sz="2400" b="1" noProof="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F575886-4E0C-63C9-4240-CA0DA6979953}"/>
              </a:ext>
            </a:extLst>
          </p:cNvPr>
          <p:cNvSpPr txBox="1">
            <a:spLocks/>
          </p:cNvSpPr>
          <p:nvPr/>
        </p:nvSpPr>
        <p:spPr>
          <a:xfrm>
            <a:off x="2746328" y="191028"/>
            <a:ext cx="66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Participatory Process</a:t>
            </a:r>
            <a:endParaRPr lang="en-US" sz="2400" b="1" noProof="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Rechteck: abgerundete Ecken 54">
            <a:extLst>
              <a:ext uri="{FF2B5EF4-FFF2-40B4-BE49-F238E27FC236}">
                <a16:creationId xmlns:a16="http://schemas.microsoft.com/office/drawing/2014/main" id="{00B6DA49-1FF3-2E44-8DEC-9AEC1345515E}"/>
              </a:ext>
            </a:extLst>
          </p:cNvPr>
          <p:cNvSpPr/>
          <p:nvPr/>
        </p:nvSpPr>
        <p:spPr>
          <a:xfrm>
            <a:off x="258387" y="1393534"/>
            <a:ext cx="2160000" cy="1350000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 Informatics Program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German University (2026)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GenAI adoption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course rules</a:t>
            </a:r>
          </a:p>
        </p:txBody>
      </p:sp>
      <p:sp>
        <p:nvSpPr>
          <p:cNvPr id="57" name="Rechteck: abgerundete Ecken 56">
            <a:extLst>
              <a:ext uri="{FF2B5EF4-FFF2-40B4-BE49-F238E27FC236}">
                <a16:creationId xmlns:a16="http://schemas.microsoft.com/office/drawing/2014/main" id="{B465A3FE-413C-4853-6E60-6434509E9986}"/>
              </a:ext>
            </a:extLst>
          </p:cNvPr>
          <p:cNvSpPr/>
          <p:nvPr/>
        </p:nvSpPr>
        <p:spPr>
          <a:xfrm>
            <a:off x="258387" y="2940511"/>
            <a:ext cx="2160000" cy="1350000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 about acceptable AI use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Unclear disclosure expectations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shared guidance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Rechteck: abgerundete Ecken 59">
            <a:extLst>
              <a:ext uri="{FF2B5EF4-FFF2-40B4-BE49-F238E27FC236}">
                <a16:creationId xmlns:a16="http://schemas.microsoft.com/office/drawing/2014/main" id="{734CBD1D-EF59-AEF1-6613-F84B96392537}"/>
              </a:ext>
            </a:extLst>
          </p:cNvPr>
          <p:cNvSpPr/>
          <p:nvPr/>
        </p:nvSpPr>
        <p:spPr>
          <a:xfrm>
            <a:off x="258386" y="4487487"/>
            <a:ext cx="2160000" cy="1350000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Human-centered design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User-centered governance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first → Staff second</a:t>
            </a:r>
          </a:p>
        </p:txBody>
      </p: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64A905A0-834E-47D0-FB23-869D4E05BE07}"/>
              </a:ext>
            </a:extLst>
          </p:cNvPr>
          <p:cNvGrpSpPr/>
          <p:nvPr/>
        </p:nvGrpSpPr>
        <p:grpSpPr>
          <a:xfrm>
            <a:off x="2861574" y="733775"/>
            <a:ext cx="2543176" cy="5736317"/>
            <a:chOff x="3248025" y="835932"/>
            <a:chExt cx="2543176" cy="5736317"/>
          </a:xfrm>
        </p:grpSpPr>
        <p:sp>
          <p:nvSpPr>
            <p:cNvPr id="19" name="Rechteck: abgerundete Ecken 18">
              <a:extLst>
                <a:ext uri="{FF2B5EF4-FFF2-40B4-BE49-F238E27FC236}">
                  <a16:creationId xmlns:a16="http://schemas.microsoft.com/office/drawing/2014/main" id="{4D7EA07D-1924-41E8-4D0B-4B11C64CD0C0}"/>
                </a:ext>
              </a:extLst>
            </p:cNvPr>
            <p:cNvSpPr/>
            <p:nvPr/>
          </p:nvSpPr>
          <p:spPr>
            <a:xfrm>
              <a:off x="3248025" y="835932"/>
              <a:ext cx="2543175" cy="5736317"/>
            </a:xfrm>
            <a:prstGeom prst="roundRect">
              <a:avLst>
                <a:gd name="adj" fmla="val 6512"/>
              </a:avLst>
            </a:prstGeom>
            <a:ln>
              <a:solidFill>
                <a:srgbClr val="054A29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489669FC-D791-53E2-90DE-073724A0D0B7}"/>
                </a:ext>
              </a:extLst>
            </p:cNvPr>
            <p:cNvSpPr txBox="1"/>
            <p:nvPr/>
          </p:nvSpPr>
          <p:spPr>
            <a:xfrm>
              <a:off x="3248025" y="873673"/>
              <a:ext cx="25431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noProof="0" dirty="0">
                  <a:latin typeface="Times New Roman" panose="02020603050405020304" pitchFamily="18" charset="0"/>
                  <a:ea typeface="Verdana" panose="020B0604030504040204" pitchFamily="34" charset="0"/>
                  <a:cs typeface="Times New Roman" panose="02020603050405020304" pitchFamily="18" charset="0"/>
                </a:rPr>
                <a:t>Student Focus Groups</a:t>
              </a:r>
            </a:p>
          </p:txBody>
        </p:sp>
        <p:sp>
          <p:nvSpPr>
            <p:cNvPr id="41" name="Rechteck: abgerundete Ecken 40">
              <a:extLst>
                <a:ext uri="{FF2B5EF4-FFF2-40B4-BE49-F238E27FC236}">
                  <a16:creationId xmlns:a16="http://schemas.microsoft.com/office/drawing/2014/main" id="{4DA3D937-A2C8-A292-E46A-F4C542864CC4}"/>
                </a:ext>
              </a:extLst>
            </p:cNvPr>
            <p:cNvSpPr/>
            <p:nvPr/>
          </p:nvSpPr>
          <p:spPr>
            <a:xfrm>
              <a:off x="3441865" y="1466774"/>
              <a:ext cx="2160000" cy="1080000"/>
            </a:xfrm>
            <a:prstGeom prst="roundRect">
              <a:avLst/>
            </a:prstGeom>
            <a:solidFill>
              <a:srgbClr val="054A2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Participants</a:t>
              </a:r>
            </a:p>
            <a:p>
              <a:pPr marL="92075" marR="0" lvl="0" indent="-920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12 B.A. Media Informatics Students</a:t>
              </a:r>
            </a:p>
            <a:p>
              <a:pPr marL="92075" marR="0" lvl="0" indent="-920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Focus Groups (7 + 5)</a:t>
              </a:r>
            </a:p>
            <a:p>
              <a:pPr marL="92075" marR="0" lvl="0" indent="-920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90 min each Focus Group</a:t>
              </a:r>
            </a:p>
          </p:txBody>
        </p:sp>
        <p:sp>
          <p:nvSpPr>
            <p:cNvPr id="63" name="Rechteck: abgerundete Ecken 62">
              <a:extLst>
                <a:ext uri="{FF2B5EF4-FFF2-40B4-BE49-F238E27FC236}">
                  <a16:creationId xmlns:a16="http://schemas.microsoft.com/office/drawing/2014/main" id="{198B5CDB-05B2-D64D-6813-6C5C1F1D8CD6}"/>
                </a:ext>
              </a:extLst>
            </p:cNvPr>
            <p:cNvSpPr/>
            <p:nvPr/>
          </p:nvSpPr>
          <p:spPr>
            <a:xfrm>
              <a:off x="3441865" y="3913810"/>
              <a:ext cx="2160000" cy="1350000"/>
            </a:xfrm>
            <a:prstGeom prst="roundRect">
              <a:avLst/>
            </a:prstGeom>
            <a:solidFill>
              <a:srgbClr val="054A2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Discussion Topics</a:t>
              </a:r>
            </a:p>
            <a:p>
              <a:pPr marL="92075" marR="0" lvl="0" indent="-920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Current GenAI Use</a:t>
              </a:r>
            </a:p>
            <a:p>
              <a:pPr marL="92075" marR="0" lvl="0" indent="-920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Allowed vs. Problematic Uses</a:t>
              </a:r>
            </a:p>
            <a:p>
              <a:pPr marL="92075" marR="0" lvl="0" indent="-920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Existing Rule Awareness</a:t>
              </a:r>
            </a:p>
            <a:p>
              <a:pPr marL="92075" marR="0" lvl="0" indent="-920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Need for Guidance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65" name="Rechteck: abgerundete Ecken 64">
              <a:extLst>
                <a:ext uri="{FF2B5EF4-FFF2-40B4-BE49-F238E27FC236}">
                  <a16:creationId xmlns:a16="http://schemas.microsoft.com/office/drawing/2014/main" id="{F4D001A7-E40D-F536-9628-D67A3BAD0296}"/>
                </a:ext>
              </a:extLst>
            </p:cNvPr>
            <p:cNvSpPr/>
            <p:nvPr/>
          </p:nvSpPr>
          <p:spPr>
            <a:xfrm>
              <a:off x="3441865" y="2690292"/>
              <a:ext cx="2160000" cy="1080000"/>
            </a:xfrm>
            <a:prstGeom prst="roundRect">
              <a:avLst/>
            </a:prstGeom>
            <a:solidFill>
              <a:srgbClr val="054A2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Data Collection</a:t>
              </a:r>
            </a:p>
            <a:p>
              <a:pPr marL="92075" marR="0" lvl="0" indent="-920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Brainstorming Cards</a:t>
              </a:r>
            </a:p>
            <a:p>
              <a:pPr marL="92075" marR="0" lvl="0" indent="-920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Facilitator Notes</a:t>
              </a:r>
            </a:p>
            <a:p>
              <a:pPr marL="92075" marR="0" lvl="0" indent="-920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Written Comments</a:t>
              </a:r>
            </a:p>
          </p:txBody>
        </p:sp>
        <p:sp>
          <p:nvSpPr>
            <p:cNvPr id="67" name="Rechteck: abgerundete Ecken 66">
              <a:extLst>
                <a:ext uri="{FF2B5EF4-FFF2-40B4-BE49-F238E27FC236}">
                  <a16:creationId xmlns:a16="http://schemas.microsoft.com/office/drawing/2014/main" id="{3F60408C-5209-5DCF-3896-0BE02C35C36F}"/>
                </a:ext>
              </a:extLst>
            </p:cNvPr>
            <p:cNvSpPr/>
            <p:nvPr/>
          </p:nvSpPr>
          <p:spPr>
            <a:xfrm>
              <a:off x="3441865" y="5407328"/>
              <a:ext cx="2160000" cy="1080000"/>
            </a:xfrm>
            <a:prstGeom prst="roundRect">
              <a:avLst/>
            </a:prstGeom>
            <a:solidFill>
              <a:srgbClr val="054A2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5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  <a:endPara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marL="92075" marR="0" lvl="0" indent="-920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AI Use Cases</a:t>
              </a:r>
            </a:p>
            <a:p>
              <a:pPr marL="92075" marR="0" lvl="0" indent="-920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Concerns &amp; Questions</a:t>
              </a:r>
            </a:p>
            <a:p>
              <a:pPr marL="92075" marR="0" lvl="0" indent="-920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Areas of Uncertainty</a:t>
              </a:r>
            </a:p>
          </p:txBody>
        </p:sp>
      </p:grpSp>
      <p:sp>
        <p:nvSpPr>
          <p:cNvPr id="79" name="Rechteck: abgerundete Ecken 78">
            <a:extLst>
              <a:ext uri="{FF2B5EF4-FFF2-40B4-BE49-F238E27FC236}">
                <a16:creationId xmlns:a16="http://schemas.microsoft.com/office/drawing/2014/main" id="{88077597-AC07-0B50-97D1-10209B3D7615}"/>
              </a:ext>
            </a:extLst>
          </p:cNvPr>
          <p:cNvSpPr/>
          <p:nvPr/>
        </p:nvSpPr>
        <p:spPr>
          <a:xfrm>
            <a:off x="9732154" y="1374484"/>
            <a:ext cx="2160000" cy="135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Principles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Responsibility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Competence Development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Rechteck: abgerundete Ecken 80">
            <a:extLst>
              <a:ext uri="{FF2B5EF4-FFF2-40B4-BE49-F238E27FC236}">
                <a16:creationId xmlns:a16="http://schemas.microsoft.com/office/drawing/2014/main" id="{9BD0085D-275F-62E7-5750-81BD947B4D4D}"/>
              </a:ext>
            </a:extLst>
          </p:cNvPr>
          <p:cNvSpPr/>
          <p:nvPr/>
        </p:nvSpPr>
        <p:spPr>
          <a:xfrm>
            <a:off x="9732153" y="2921461"/>
            <a:ext cx="2160000" cy="135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Course-Specific Guidance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Rechteck: abgerundete Ecken 82">
            <a:extLst>
              <a:ext uri="{FF2B5EF4-FFF2-40B4-BE49-F238E27FC236}">
                <a16:creationId xmlns:a16="http://schemas.microsoft.com/office/drawing/2014/main" id="{41C3A4AB-B221-35BC-E480-D3B2A9A6B1CF}"/>
              </a:ext>
            </a:extLst>
          </p:cNvPr>
          <p:cNvSpPr/>
          <p:nvPr/>
        </p:nvSpPr>
        <p:spPr>
          <a:xfrm>
            <a:off x="9755654" y="4468437"/>
            <a:ext cx="2160000" cy="135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Disclosure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Areas of Use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9338C8E-3E99-1C51-6E0F-1D26B26AF268}"/>
              </a:ext>
            </a:extLst>
          </p:cNvPr>
          <p:cNvGrpSpPr/>
          <p:nvPr/>
        </p:nvGrpSpPr>
        <p:grpSpPr>
          <a:xfrm>
            <a:off x="5528319" y="733774"/>
            <a:ext cx="3753181" cy="5736317"/>
            <a:chOff x="5446679" y="741938"/>
            <a:chExt cx="3753181" cy="5736317"/>
          </a:xfrm>
        </p:grpSpPr>
        <p:sp>
          <p:nvSpPr>
            <p:cNvPr id="85" name="Rechteck: abgerundete Ecken 84">
              <a:extLst>
                <a:ext uri="{FF2B5EF4-FFF2-40B4-BE49-F238E27FC236}">
                  <a16:creationId xmlns:a16="http://schemas.microsoft.com/office/drawing/2014/main" id="{3BA8F502-5F9E-535A-8C8F-94A56D73BE94}"/>
                </a:ext>
              </a:extLst>
            </p:cNvPr>
            <p:cNvSpPr/>
            <p:nvPr/>
          </p:nvSpPr>
          <p:spPr>
            <a:xfrm>
              <a:off x="5446679" y="741938"/>
              <a:ext cx="3714459" cy="5736317"/>
            </a:xfrm>
            <a:prstGeom prst="roundRect">
              <a:avLst>
                <a:gd name="adj" fmla="val 6512"/>
              </a:avLst>
            </a:prstGeom>
            <a:ln>
              <a:solidFill>
                <a:srgbClr val="482E4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Rechteck: abgerundete Ecken 68">
              <a:extLst>
                <a:ext uri="{FF2B5EF4-FFF2-40B4-BE49-F238E27FC236}">
                  <a16:creationId xmlns:a16="http://schemas.microsoft.com/office/drawing/2014/main" id="{47539F7C-739A-C32A-BDD2-0B098529CADF}"/>
                </a:ext>
              </a:extLst>
            </p:cNvPr>
            <p:cNvSpPr/>
            <p:nvPr/>
          </p:nvSpPr>
          <p:spPr>
            <a:xfrm>
              <a:off x="5577586" y="1337738"/>
              <a:ext cx="1620000" cy="1350000"/>
            </a:xfrm>
            <a:prstGeom prst="roundRect">
              <a:avLst/>
            </a:prstGeom>
            <a:solidFill>
              <a:srgbClr val="482E4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Participants</a:t>
              </a:r>
            </a:p>
            <a:p>
              <a:pPr marL="88900" marR="0" lvl="0" indent="-88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12 Teaching Staff</a:t>
              </a:r>
            </a:p>
            <a:p>
              <a:pPr marL="88900" marR="0" lvl="0" indent="-88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Professor to Junior Staff</a:t>
              </a:r>
            </a:p>
            <a:p>
              <a:pPr marL="88900" marR="0" lvl="0" indent="-88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2-hour Workshop</a:t>
              </a:r>
            </a:p>
          </p:txBody>
        </p:sp>
        <p:sp>
          <p:nvSpPr>
            <p:cNvPr id="71" name="Rechteck: abgerundete Ecken 70">
              <a:extLst>
                <a:ext uri="{FF2B5EF4-FFF2-40B4-BE49-F238E27FC236}">
                  <a16:creationId xmlns:a16="http://schemas.microsoft.com/office/drawing/2014/main" id="{3DF4E02B-678F-807A-A692-F491B7C61651}"/>
                </a:ext>
              </a:extLst>
            </p:cNvPr>
            <p:cNvSpPr/>
            <p:nvPr/>
          </p:nvSpPr>
          <p:spPr>
            <a:xfrm>
              <a:off x="5578121" y="2824474"/>
              <a:ext cx="3420000" cy="911735"/>
            </a:xfrm>
            <a:prstGeom prst="roundRect">
              <a:avLst/>
            </a:prstGeom>
            <a:solidFill>
              <a:srgbClr val="482E4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1. Evaluate Use Cases</a:t>
              </a:r>
            </a:p>
            <a:p>
              <a:pPr marL="88900" marR="0" lvl="0" indent="-88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Student-derived AI Scenarios</a:t>
              </a:r>
            </a:p>
            <a:p>
              <a:pPr marL="88900" marR="0" lvl="0" indent="-88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Acceptable ↔ Unacceptable Scale</a:t>
              </a:r>
            </a:p>
            <a:p>
              <a:pPr marL="88900" marR="0" lvl="0" indent="-88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Written Annotations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3" name="Rechteck: abgerundete Ecken 72">
              <a:extLst>
                <a:ext uri="{FF2B5EF4-FFF2-40B4-BE49-F238E27FC236}">
                  <a16:creationId xmlns:a16="http://schemas.microsoft.com/office/drawing/2014/main" id="{F0DDCEC5-206A-6E65-AAA3-55A9D92A9A0E}"/>
                </a:ext>
              </a:extLst>
            </p:cNvPr>
            <p:cNvSpPr/>
            <p:nvPr/>
          </p:nvSpPr>
          <p:spPr>
            <a:xfrm>
              <a:off x="5586004" y="3865092"/>
              <a:ext cx="3420000" cy="1192046"/>
            </a:xfrm>
            <a:prstGeom prst="roundRect">
              <a:avLst/>
            </a:prstGeom>
            <a:solidFill>
              <a:srgbClr val="482E4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2. Reflect on Practice</a:t>
              </a:r>
            </a:p>
            <a:p>
              <a:pPr marL="88900" marR="0" lvl="0" indent="-88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Encouraged AI Use</a:t>
              </a:r>
            </a:p>
            <a:p>
              <a:pPr marL="88900" marR="0" lvl="0" indent="-88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Documentation &amp; Disclosure</a:t>
              </a:r>
            </a:p>
            <a:p>
              <a:pPr marL="88900" marR="0" lvl="0" indent="-88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Problematic Cases</a:t>
              </a:r>
            </a:p>
            <a:p>
              <a:pPr marL="88900" marR="0" lvl="0" indent="-88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Areas of Uncertainty</a:t>
              </a:r>
            </a:p>
          </p:txBody>
        </p:sp>
        <p:sp>
          <p:nvSpPr>
            <p:cNvPr id="75" name="Rechteck: abgerundete Ecken 74">
              <a:extLst>
                <a:ext uri="{FF2B5EF4-FFF2-40B4-BE49-F238E27FC236}">
                  <a16:creationId xmlns:a16="http://schemas.microsoft.com/office/drawing/2014/main" id="{DC03D6F9-F4A1-EF78-E83D-8FDDFDF03F76}"/>
                </a:ext>
              </a:extLst>
            </p:cNvPr>
            <p:cNvSpPr/>
            <p:nvPr/>
          </p:nvSpPr>
          <p:spPr>
            <a:xfrm>
              <a:off x="5593887" y="5186021"/>
              <a:ext cx="3420000" cy="1192046"/>
            </a:xfrm>
            <a:prstGeom prst="roundRect">
              <a:avLst/>
            </a:prstGeom>
            <a:solidFill>
              <a:srgbClr val="482E4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3. Governance Discussion</a:t>
              </a:r>
            </a:p>
            <a:p>
              <a:pPr marL="88900" marR="0" lvl="0" indent="-88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Rule Conflicts</a:t>
              </a:r>
            </a:p>
            <a:p>
              <a:pPr marL="88900" marR="0" lvl="0" indent="-88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Existing Prohibitions</a:t>
              </a:r>
            </a:p>
            <a:p>
              <a:pPr marL="88900" marR="0" lvl="0" indent="-88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Need for Common Guidance</a:t>
              </a:r>
            </a:p>
            <a:p>
              <a:pPr marL="88900" marR="0" lvl="0" indent="-88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Plenary Discussion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1FD4A249-FD3D-5805-498D-E9B58B87F7B3}"/>
                </a:ext>
              </a:extLst>
            </p:cNvPr>
            <p:cNvSpPr txBox="1"/>
            <p:nvPr/>
          </p:nvSpPr>
          <p:spPr>
            <a:xfrm>
              <a:off x="5485401" y="743158"/>
              <a:ext cx="3714459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noProof="0" dirty="0">
                  <a:latin typeface="Times New Roman" panose="02020603050405020304" pitchFamily="18" charset="0"/>
                  <a:ea typeface="Verdana" panose="020B0604030504040204" pitchFamily="34" charset="0"/>
                  <a:cs typeface="Times New Roman" panose="02020603050405020304" pitchFamily="18" charset="0"/>
                </a:rPr>
                <a:t>Staff Workshop</a:t>
              </a:r>
            </a:p>
          </p:txBody>
        </p:sp>
        <p:sp>
          <p:nvSpPr>
            <p:cNvPr id="77" name="Rechteck: abgerundete Ecken 76">
              <a:extLst>
                <a:ext uri="{FF2B5EF4-FFF2-40B4-BE49-F238E27FC236}">
                  <a16:creationId xmlns:a16="http://schemas.microsoft.com/office/drawing/2014/main" id="{FBD82B6D-DF45-434C-B993-EE4081082525}"/>
                </a:ext>
              </a:extLst>
            </p:cNvPr>
            <p:cNvSpPr/>
            <p:nvPr/>
          </p:nvSpPr>
          <p:spPr>
            <a:xfrm>
              <a:off x="7379751" y="1333678"/>
              <a:ext cx="1620000" cy="1350000"/>
            </a:xfrm>
            <a:prstGeom prst="roundRect">
              <a:avLst/>
            </a:prstGeom>
            <a:solidFill>
              <a:srgbClr val="482E4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Output</a:t>
              </a:r>
            </a:p>
            <a:p>
              <a:pPr marL="88900" marR="0" lvl="0" indent="-88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Consensus Areas</a:t>
              </a:r>
            </a:p>
            <a:p>
              <a:pPr marL="88900" marR="0" lvl="0" indent="-88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Disagreement Areas</a:t>
              </a:r>
            </a:p>
            <a:p>
              <a:pPr marL="88900" marR="0" lvl="0" indent="-88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Governance Requirements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4098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3C56A289-2199-8338-7F77-0190874A592D}"/>
              </a:ext>
            </a:extLst>
          </p:cNvPr>
          <p:cNvGrpSpPr/>
          <p:nvPr/>
        </p:nvGrpSpPr>
        <p:grpSpPr>
          <a:xfrm>
            <a:off x="330975" y="445275"/>
            <a:ext cx="6022200" cy="2424150"/>
            <a:chOff x="1235850" y="321450"/>
            <a:chExt cx="6022200" cy="2424150"/>
          </a:xfrm>
        </p:grpSpPr>
        <p:pic>
          <p:nvPicPr>
            <p:cNvPr id="5" name="Grafik 4" descr="Weibliches Profil Silhouette">
              <a:extLst>
                <a:ext uri="{FF2B5EF4-FFF2-40B4-BE49-F238E27FC236}">
                  <a16:creationId xmlns:a16="http://schemas.microsoft.com/office/drawing/2014/main" id="{98760DEA-C150-6A8F-ECA5-6F094F997D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35850" y="1333500"/>
              <a:ext cx="1412100" cy="1412100"/>
            </a:xfrm>
            <a:prstGeom prst="rect">
              <a:avLst/>
            </a:prstGeom>
          </p:spPr>
        </p:pic>
        <p:sp>
          <p:nvSpPr>
            <p:cNvPr id="6" name="Sprechblase: oval 5">
              <a:extLst>
                <a:ext uri="{FF2B5EF4-FFF2-40B4-BE49-F238E27FC236}">
                  <a16:creationId xmlns:a16="http://schemas.microsoft.com/office/drawing/2014/main" id="{5E04CF86-839B-33C4-FAD8-964E20F58776}"/>
                </a:ext>
              </a:extLst>
            </p:cNvPr>
            <p:cNvSpPr/>
            <p:nvPr/>
          </p:nvSpPr>
          <p:spPr>
            <a:xfrm>
              <a:off x="2647950" y="321450"/>
              <a:ext cx="4610100" cy="1412100"/>
            </a:xfrm>
            <a:prstGeom prst="wedgeEllipseCallout">
              <a:avLst>
                <a:gd name="adj1" fmla="val -53478"/>
                <a:gd name="adj2" fmla="val 46986"/>
              </a:avLst>
            </a:prstGeom>
            <a:noFill/>
            <a:ln w="38100" cap="flat" cmpd="sng" algn="ctr">
              <a:solidFill>
                <a:srgbClr val="054A2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r>
                <a:rPr lang="de-DE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Profs sollen einem sagen wie sie sich die KI- Nutzung im Kurs vorstellen.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9324759E-47FA-2DB9-A1F4-294AF0889497}"/>
              </a:ext>
            </a:extLst>
          </p:cNvPr>
          <p:cNvGrpSpPr/>
          <p:nvPr/>
        </p:nvGrpSpPr>
        <p:grpSpPr>
          <a:xfrm>
            <a:off x="5419725" y="2163375"/>
            <a:ext cx="6022200" cy="2288400"/>
            <a:chOff x="4657725" y="1657350"/>
            <a:chExt cx="6022200" cy="2288400"/>
          </a:xfrm>
        </p:grpSpPr>
        <p:pic>
          <p:nvPicPr>
            <p:cNvPr id="3" name="Grafik 2" descr="Männliches Profil Silhouette">
              <a:extLst>
                <a:ext uri="{FF2B5EF4-FFF2-40B4-BE49-F238E27FC236}">
                  <a16:creationId xmlns:a16="http://schemas.microsoft.com/office/drawing/2014/main" id="{5A20489C-CDD9-832C-C3DA-18CE271A71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67825" y="2533650"/>
              <a:ext cx="1412100" cy="1412100"/>
            </a:xfrm>
            <a:prstGeom prst="rect">
              <a:avLst/>
            </a:prstGeom>
          </p:spPr>
        </p:pic>
        <p:sp>
          <p:nvSpPr>
            <p:cNvPr id="11" name="Sprechblase: oval 10">
              <a:extLst>
                <a:ext uri="{FF2B5EF4-FFF2-40B4-BE49-F238E27FC236}">
                  <a16:creationId xmlns:a16="http://schemas.microsoft.com/office/drawing/2014/main" id="{D0833782-BE31-C178-4D02-97A7C03B6FB6}"/>
                </a:ext>
              </a:extLst>
            </p:cNvPr>
            <p:cNvSpPr/>
            <p:nvPr/>
          </p:nvSpPr>
          <p:spPr>
            <a:xfrm flipH="1">
              <a:off x="4657725" y="1657350"/>
              <a:ext cx="4610100" cy="1412100"/>
            </a:xfrm>
            <a:prstGeom prst="wedgeEllipseCallout">
              <a:avLst>
                <a:gd name="adj1" fmla="val -53478"/>
                <a:gd name="adj2" fmla="val 46986"/>
              </a:avLst>
            </a:prstGeom>
            <a:noFill/>
            <a:ln w="38100" cap="flat" cmpd="sng" algn="ctr">
              <a:solidFill>
                <a:srgbClr val="482E4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r>
                <a:rPr lang="de-DE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Regeln zur Kennzeichnung notwendig (sinnvolle!)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BD648A7-98E6-D8C8-8C16-67D1748D0E6D}"/>
              </a:ext>
            </a:extLst>
          </p:cNvPr>
          <p:cNvGrpSpPr/>
          <p:nvPr/>
        </p:nvGrpSpPr>
        <p:grpSpPr>
          <a:xfrm flipH="1">
            <a:off x="330975" y="3745725"/>
            <a:ext cx="6022200" cy="2288400"/>
            <a:chOff x="4657725" y="1657350"/>
            <a:chExt cx="6022200" cy="2288400"/>
          </a:xfrm>
        </p:grpSpPr>
        <p:pic>
          <p:nvPicPr>
            <p:cNvPr id="17" name="Grafik 16" descr="Männliches Profil Silhouette">
              <a:extLst>
                <a:ext uri="{FF2B5EF4-FFF2-40B4-BE49-F238E27FC236}">
                  <a16:creationId xmlns:a16="http://schemas.microsoft.com/office/drawing/2014/main" id="{E1FFB9F1-3367-60E3-4433-4375A0436C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67825" y="2533650"/>
              <a:ext cx="1412100" cy="1412100"/>
            </a:xfrm>
            <a:prstGeom prst="rect">
              <a:avLst/>
            </a:prstGeom>
          </p:spPr>
        </p:pic>
        <p:sp>
          <p:nvSpPr>
            <p:cNvPr id="18" name="Sprechblase: oval 17">
              <a:extLst>
                <a:ext uri="{FF2B5EF4-FFF2-40B4-BE49-F238E27FC236}">
                  <a16:creationId xmlns:a16="http://schemas.microsoft.com/office/drawing/2014/main" id="{4A27222E-1F0D-CDF2-7552-FF7B409679F3}"/>
                </a:ext>
              </a:extLst>
            </p:cNvPr>
            <p:cNvSpPr/>
            <p:nvPr/>
          </p:nvSpPr>
          <p:spPr>
            <a:xfrm flipH="1">
              <a:off x="4657725" y="1657350"/>
              <a:ext cx="4610100" cy="1412100"/>
            </a:xfrm>
            <a:prstGeom prst="wedgeEllipseCallout">
              <a:avLst>
                <a:gd name="adj1" fmla="val -53478"/>
                <a:gd name="adj2" fmla="val 46986"/>
              </a:avLst>
            </a:prstGeom>
            <a:noFill/>
            <a:ln w="38100" cap="flat" cmpd="sng" algn="ctr">
              <a:solidFill>
                <a:srgbClr val="15608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r>
                <a:rPr lang="de-DE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Darf ich Dozentenfolien von KI verarbeiten / zusammenfassen lassen?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2977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5C6DF27-3234-CB4A-1030-EF3CB86F9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DF8B250-4B20-504B-B96E-953E1E00635B}"/>
              </a:ext>
            </a:extLst>
          </p:cNvPr>
          <p:cNvGrpSpPr/>
          <p:nvPr/>
        </p:nvGrpSpPr>
        <p:grpSpPr>
          <a:xfrm>
            <a:off x="330975" y="445275"/>
            <a:ext cx="6022200" cy="2424150"/>
            <a:chOff x="1235850" y="321450"/>
            <a:chExt cx="6022200" cy="2424150"/>
          </a:xfrm>
        </p:grpSpPr>
        <p:pic>
          <p:nvPicPr>
            <p:cNvPr id="5" name="Grafik 4" descr="Weibliches Profil Silhouette">
              <a:extLst>
                <a:ext uri="{FF2B5EF4-FFF2-40B4-BE49-F238E27FC236}">
                  <a16:creationId xmlns:a16="http://schemas.microsoft.com/office/drawing/2014/main" id="{71686AE6-517D-8C75-5389-8434A2EA36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35850" y="1333500"/>
              <a:ext cx="1412100" cy="1412100"/>
            </a:xfrm>
            <a:prstGeom prst="rect">
              <a:avLst/>
            </a:prstGeom>
          </p:spPr>
        </p:pic>
        <p:sp>
          <p:nvSpPr>
            <p:cNvPr id="6" name="Sprechblase: oval 5">
              <a:extLst>
                <a:ext uri="{FF2B5EF4-FFF2-40B4-BE49-F238E27FC236}">
                  <a16:creationId xmlns:a16="http://schemas.microsoft.com/office/drawing/2014/main" id="{1AB5C0BB-42C6-7D05-B6F8-41D2200D9E5A}"/>
                </a:ext>
              </a:extLst>
            </p:cNvPr>
            <p:cNvSpPr/>
            <p:nvPr/>
          </p:nvSpPr>
          <p:spPr>
            <a:xfrm>
              <a:off x="2647950" y="321450"/>
              <a:ext cx="4610100" cy="1412100"/>
            </a:xfrm>
            <a:prstGeom prst="wedgeEllipseCallout">
              <a:avLst>
                <a:gd name="adj1" fmla="val -53478"/>
                <a:gd name="adj2" fmla="val 46986"/>
              </a:avLst>
            </a:prstGeom>
            <a:noFill/>
            <a:ln w="38100" cap="flat" cmpd="sng" algn="ctr">
              <a:solidFill>
                <a:srgbClr val="054A2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Professors should explain how they expect students to use AI in their courses.</a:t>
              </a:r>
              <a:endParaRPr lang="de-DE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51109B9D-5870-5EF7-16B5-73E7527ADCB9}"/>
              </a:ext>
            </a:extLst>
          </p:cNvPr>
          <p:cNvGrpSpPr/>
          <p:nvPr/>
        </p:nvGrpSpPr>
        <p:grpSpPr>
          <a:xfrm>
            <a:off x="5419725" y="2163375"/>
            <a:ext cx="6022200" cy="2288400"/>
            <a:chOff x="4657725" y="1657350"/>
            <a:chExt cx="6022200" cy="2288400"/>
          </a:xfrm>
        </p:grpSpPr>
        <p:pic>
          <p:nvPicPr>
            <p:cNvPr id="3" name="Grafik 2" descr="Männliches Profil Silhouette">
              <a:extLst>
                <a:ext uri="{FF2B5EF4-FFF2-40B4-BE49-F238E27FC236}">
                  <a16:creationId xmlns:a16="http://schemas.microsoft.com/office/drawing/2014/main" id="{AEDDA8B4-00F9-082B-590F-1E88D06BF7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67825" y="2533650"/>
              <a:ext cx="1412100" cy="1412100"/>
            </a:xfrm>
            <a:prstGeom prst="rect">
              <a:avLst/>
            </a:prstGeom>
          </p:spPr>
        </p:pic>
        <p:sp>
          <p:nvSpPr>
            <p:cNvPr id="11" name="Sprechblase: oval 10">
              <a:extLst>
                <a:ext uri="{FF2B5EF4-FFF2-40B4-BE49-F238E27FC236}">
                  <a16:creationId xmlns:a16="http://schemas.microsoft.com/office/drawing/2014/main" id="{E7403BEF-1284-54BB-BD55-4A24E12A5BB1}"/>
                </a:ext>
              </a:extLst>
            </p:cNvPr>
            <p:cNvSpPr/>
            <p:nvPr/>
          </p:nvSpPr>
          <p:spPr>
            <a:xfrm flipH="1">
              <a:off x="4657725" y="1657350"/>
              <a:ext cx="4610100" cy="1412100"/>
            </a:xfrm>
            <a:prstGeom prst="wedgeEllipseCallout">
              <a:avLst>
                <a:gd name="adj1" fmla="val -53478"/>
                <a:gd name="adj2" fmla="val 46986"/>
              </a:avLst>
            </a:prstGeom>
            <a:noFill/>
            <a:ln w="38100" cap="flat" cmpd="sng" algn="ctr">
              <a:solidFill>
                <a:srgbClr val="482E4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Rules for AI usage are necessary (reasonable Rules!)</a:t>
              </a:r>
              <a:endParaRPr lang="de-DE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378FECA2-2591-94DE-50F9-3EEE3763D36E}"/>
              </a:ext>
            </a:extLst>
          </p:cNvPr>
          <p:cNvGrpSpPr/>
          <p:nvPr/>
        </p:nvGrpSpPr>
        <p:grpSpPr>
          <a:xfrm flipH="1">
            <a:off x="330975" y="3745725"/>
            <a:ext cx="6022200" cy="2288400"/>
            <a:chOff x="4657725" y="1657350"/>
            <a:chExt cx="6022200" cy="2288400"/>
          </a:xfrm>
        </p:grpSpPr>
        <p:pic>
          <p:nvPicPr>
            <p:cNvPr id="17" name="Grafik 16" descr="Männliches Profil Silhouette">
              <a:extLst>
                <a:ext uri="{FF2B5EF4-FFF2-40B4-BE49-F238E27FC236}">
                  <a16:creationId xmlns:a16="http://schemas.microsoft.com/office/drawing/2014/main" id="{36FA3310-ADB0-7F5E-BAA7-F53692AABE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67825" y="2533650"/>
              <a:ext cx="1412100" cy="1412100"/>
            </a:xfrm>
            <a:prstGeom prst="rect">
              <a:avLst/>
            </a:prstGeom>
          </p:spPr>
        </p:pic>
        <p:sp>
          <p:nvSpPr>
            <p:cNvPr id="18" name="Sprechblase: oval 17">
              <a:extLst>
                <a:ext uri="{FF2B5EF4-FFF2-40B4-BE49-F238E27FC236}">
                  <a16:creationId xmlns:a16="http://schemas.microsoft.com/office/drawing/2014/main" id="{4CC5607C-1678-7A5A-8E8A-0A319D6BCBFB}"/>
                </a:ext>
              </a:extLst>
            </p:cNvPr>
            <p:cNvSpPr/>
            <p:nvPr/>
          </p:nvSpPr>
          <p:spPr>
            <a:xfrm flipH="1">
              <a:off x="4657725" y="1657350"/>
              <a:ext cx="4610100" cy="1412100"/>
            </a:xfrm>
            <a:prstGeom prst="wedgeEllipseCallout">
              <a:avLst>
                <a:gd name="adj1" fmla="val -53478"/>
                <a:gd name="adj2" fmla="val 46986"/>
              </a:avLst>
            </a:prstGeom>
            <a:noFill/>
            <a:ln w="38100" cap="flat" cmpd="sng" algn="ctr">
              <a:solidFill>
                <a:srgbClr val="15608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Am I allowed to have AI process or summarize lecture slides?</a:t>
              </a:r>
              <a:endParaRPr lang="de-DE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1252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</Words>
  <Application>Microsoft Office PowerPoint</Application>
  <PresentationFormat>Breitbild</PresentationFormat>
  <Paragraphs>153</Paragraphs>
  <Slides>6</Slides>
  <Notes>1</Notes>
  <HiddenSlides>5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Niklas Donhauser</dc:creator>
  <cp:lastModifiedBy>Niklas Donhauser</cp:lastModifiedBy>
  <cp:revision>14</cp:revision>
  <dcterms:created xsi:type="dcterms:W3CDTF">2026-09-10T07:53:36Z</dcterms:created>
  <dcterms:modified xsi:type="dcterms:W3CDTF">2026-09-18T15:27:28Z</dcterms:modified>
</cp:coreProperties>
</file>